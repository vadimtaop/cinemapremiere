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D9F3"/>
    <a:srgbClr val="160BA4"/>
    <a:srgbClr val="62B8FB"/>
    <a:srgbClr val="55DDD7"/>
    <a:srgbClr val="5EC9EA"/>
    <a:srgbClr val="EBF1F5"/>
    <a:srgbClr val="000000"/>
    <a:srgbClr val="5DCAE8"/>
    <a:srgbClr val="8AC8FF"/>
    <a:srgbClr val="F8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986" autoAdjust="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Время</a:t>
            </a:r>
            <a:r>
              <a:rPr lang="ru-RU" sz="16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оформления продажи</a:t>
            </a:r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c:rich>
      </c:tx>
      <c:layout>
        <c:manualLayout>
          <c:xMode val="edge"/>
          <c:yMode val="edge"/>
          <c:x val="0.18092514155131509"/>
          <c:y val="7.69851939892662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С использованием ИС</c:v>
                </c:pt>
                <c:pt idx="1">
                  <c:v>Ручной учет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4</c:v>
                </c:pt>
                <c:pt idx="1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44-4286-886F-A940EFA9A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9778400"/>
        <c:axId val="1317375744"/>
      </c:barChart>
      <c:catAx>
        <c:axId val="155977840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17375744"/>
        <c:crosses val="autoZero"/>
        <c:auto val="1"/>
        <c:lblAlgn val="ctr"/>
        <c:lblOffset val="100"/>
        <c:noMultiLvlLbl val="0"/>
      </c:catAx>
      <c:valAx>
        <c:axId val="13173757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59778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EDCBE-A14B-4F36-9598-8AABD4A51125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308C89-6FA8-4A6E-B1EF-12F37E940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34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54FB58-27D7-4083-98A7-C945DA8BC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D1AEBB6-E5D4-4001-8E80-E742AFB83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92380B-FE93-4573-816E-DC921230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CF023-FCCE-4C69-AC56-0CAF16D8ED02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38F9AD-410A-48C0-A3A7-269271D3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E19C06-0B0C-44E4-98F8-7FC015569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A272-CAB8-4E1D-A6B5-6B7C5EB96C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347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54B17-2684-4B8D-8E4A-638D4E31F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E77F0A-523B-42C6-B596-FA3843377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76B4CA-CF9D-45EC-8B9E-AD59625C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581D-C488-47AF-A235-23C35B7E4AA9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2D9F3F-FBB5-47A1-ADFD-19A63A71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802EF3-AB35-43D4-AE33-239C6D98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A272-CAB8-4E1D-A6B5-6B7C5EB96C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857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6162D6-4D7F-49CB-9B88-73518A13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FD4706-6AE0-49CE-A817-B16F36CB7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35BE00-F51B-4153-B86F-233ECFA2C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66AB-4807-4891-AFED-3B72D738E562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10315F-7832-47D9-9E15-0A7A7FB2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AAEE6A-68E3-4E39-91F8-53E1B0409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A272-CAB8-4E1D-A6B5-6B7C5EB96C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027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A3673-4AD1-4712-AF57-ECA63FE3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557241-EE3F-4CD8-AB04-D28AA35B6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23E79A-8A38-42CD-B851-937CE1CBA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929D5F-E7BE-4CD5-B02E-49362836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C3FB1-FD33-40CE-83E3-99449C28769D}" type="datetime1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7AE4F1-C64D-4E58-9AF8-25E788EA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FA11F2-DC3A-471E-8253-F1286CC9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A272-CAB8-4E1D-A6B5-6B7C5EB96C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01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7DBC5-D928-45A5-B8C4-5C569758C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286A1E-7C26-4415-A6C2-AF3C3D4E2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45B4B6-988B-4D78-9D54-7C322FDAE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07DB1E-1223-4AEA-947B-678D10B4C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11F4301-1189-4204-BA7A-BC0B22581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C01D91-8CA8-42B5-B649-5CCC1E6A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D398-C57F-4064-957F-026411BE3C72}" type="datetime1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6C505DB-F759-4DB3-A015-C9094376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228E402-671E-4905-A856-B16DDEFF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A272-CAB8-4E1D-A6B5-6B7C5EB96C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655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5D770-3798-42A9-9F52-03B799938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AB55E1A-1D15-424B-8344-6E265BC7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96699-C7F8-4092-A6D1-A8085D0F4B81}" type="datetime1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066790-F6BD-4845-9E8E-2C694618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5B1521-B667-4218-AE63-74DD1330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A272-CAB8-4E1D-A6B5-6B7C5EB96C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698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F0B2AA-2DD6-424A-9A92-F3F4315B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F59C-5FFE-4A98-81C0-66492B48C4DF}" type="datetime1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651B058-B7E8-486C-9742-0847214F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104787-5D07-4B32-B546-869F89E8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A272-CAB8-4E1D-A6B5-6B7C5EB96C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957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E6972-607A-4158-8523-44CDFA40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A074C4-289F-4F25-803E-BF0CC27BE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A13EB4-9ACA-4C42-9501-6A16508E3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39D937-D0CC-46D6-91D1-22C06256C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E505-1F76-4C35-9147-5D1E65EF4D91}" type="datetime1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A28FB9-50B1-4814-BAD2-DB7982F6F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D50787-3665-4870-8748-FBBC9EEE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A272-CAB8-4E1D-A6B5-6B7C5EB96C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43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208750-2E10-4AFD-B8CC-41FF95217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62C809D-575F-436F-AC35-4ADA9EC90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E24394-48B5-4F0B-A31C-4F9482457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0EAF82-CDC8-4B8A-8352-31C387D1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52BF-9D29-4549-B224-A7857A894A0F}" type="datetime1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FCEB44-EA97-422D-900B-E3FB7CC00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96461D-9AAC-4434-B490-6C5B838A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A272-CAB8-4E1D-A6B5-6B7C5EB96C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7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B7111-938A-4614-8CBE-CED95CC2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56E9E4-50D9-4E75-B0E9-AAA79025E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047368-62A9-49BF-92B3-7C285A9DF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B367-BD9B-4EFC-9B24-7295F1B4BA9C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CBCB02-6794-496F-892F-295EB9C1C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74199C-6CCC-4800-932F-AB72E687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A272-CAB8-4E1D-A6B5-6B7C5EB96C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86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DD0135-69BC-47F0-9D85-5CB4341A2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029878-C6AE-4CFF-B2F9-370A29E86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D47217-333E-415E-9684-641DCE62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929B-03B6-4BB0-89B7-EF01FB876B20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6A9FD2-0BF9-4AC9-8A5E-B6F4DF49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19CCB0-3904-4046-BB78-B0171CBF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A272-CAB8-4E1D-A6B5-6B7C5EB96C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11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7E84B8-D2D0-4131-9829-BF8026B9D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AE25F1-4D3F-4652-AFF2-BB9088B1E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FEE912-8B3A-40C5-A1EC-C06D2BF874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87CD4-B621-459C-AD80-291509D28C40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B2ADF1-C046-4C32-BA44-27A566E55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F1951B-3158-45FA-B0C8-7B77CEAEC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3A272-CAB8-4E1D-A6B5-6B7C5EB96C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52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1" y="-57150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1904072"/>
            <a:ext cx="12192000" cy="1976438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Тема: Создание информационной системы</a:t>
            </a:r>
            <a:b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«Учет продажи билетов» для МБУК</a:t>
            </a:r>
            <a:b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«Починковский культурно-досуговый центр»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F54DD2-DA99-4DE1-B52B-80175F216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677" y="4980138"/>
            <a:ext cx="3227294" cy="1140292"/>
          </a:xfrm>
        </p:spPr>
        <p:txBody>
          <a:bodyPr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Специальность: 09.02.07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Информационные системы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и программирование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DA06E44-AC57-46C9-87C1-40B393EC9E9E}"/>
              </a:ext>
            </a:extLst>
          </p:cNvPr>
          <p:cNvSpPr txBox="1">
            <a:spLocks/>
          </p:cNvSpPr>
          <p:nvPr/>
        </p:nvSpPr>
        <p:spPr>
          <a:xfrm>
            <a:off x="7203431" y="4699768"/>
            <a:ext cx="4598892" cy="1701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40000"/>
              </a:lnSpc>
              <a:spcBef>
                <a:spcPts val="0"/>
              </a:spcBef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Выполнил: студент группы 4И</a:t>
            </a:r>
            <a:b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Мухин Вадим Юрьевич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Руководитель: преподаватель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профессиональных дисциплин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Трушина Татьяна Павловна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4BD975C-5F18-4E7C-B3BE-724C9EC9F976}"/>
              </a:ext>
            </a:extLst>
          </p:cNvPr>
          <p:cNvSpPr txBox="1">
            <a:spLocks/>
          </p:cNvSpPr>
          <p:nvPr/>
        </p:nvSpPr>
        <p:spPr>
          <a:xfrm>
            <a:off x="0" y="-142875"/>
            <a:ext cx="12192000" cy="9771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Министерство образования Нижегородской области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Государственное бюджетное профессиональное образовательное учреждение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«Починковский сельско-хозяйственный техникум»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E6FB807-2484-4303-AFC5-3D59B2F9E2E7}"/>
              </a:ext>
            </a:extLst>
          </p:cNvPr>
          <p:cNvSpPr txBox="1">
            <a:spLocks/>
          </p:cNvSpPr>
          <p:nvPr/>
        </p:nvSpPr>
        <p:spPr>
          <a:xfrm>
            <a:off x="0" y="6488907"/>
            <a:ext cx="12192000" cy="400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с. Починки, 2026 г.</a:t>
            </a:r>
          </a:p>
        </p:txBody>
      </p:sp>
    </p:spTree>
    <p:extLst>
      <p:ext uri="{BB962C8B-B14F-4D97-AF65-F5344CB8AC3E}">
        <p14:creationId xmlns:p14="http://schemas.microsoft.com/office/powerpoint/2010/main" val="3361045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1" y="-57150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Актуальность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F54DD2-DA99-4DE1-B52B-80175F216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9951" y="1326643"/>
            <a:ext cx="5458674" cy="4942272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Проблемы существующей системы: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Ручной учет билетов и расписания сеансов</a:t>
            </a:r>
          </a:p>
          <a:p>
            <a:pPr lvl="1" algn="just">
              <a:lnSpc>
                <a:spcPct val="140000"/>
              </a:lnSpc>
              <a:spcBef>
                <a:spcPts val="0"/>
              </a:spcBef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Сложный ручной сбор отчетности для руководства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Высокая трудоемкость ведения репертуара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Риск утери или дублирование данных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74641F8-E27D-4995-A843-6855A67907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6" t="14597" r="12744" b="13263"/>
          <a:stretch/>
        </p:blipFill>
        <p:spPr>
          <a:xfrm>
            <a:off x="238125" y="1615857"/>
            <a:ext cx="6224221" cy="430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096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1" y="-57150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Объект и предмет исследования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F54DD2-DA99-4DE1-B52B-80175F216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659" y="1933738"/>
            <a:ext cx="5522418" cy="3680086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Объект исследования: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Деятельность кинотеатра «Премьера» на базе МБУК «ПКДЦ»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Предмет исследования: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Автоматизация учета продажи билетов и управления расписанием сеансов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7D1C6A9-4449-491F-9E7A-7E1C989898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4" t="8982" r="9553" b="7820"/>
          <a:stretch/>
        </p:blipFill>
        <p:spPr>
          <a:xfrm>
            <a:off x="5731735" y="1398192"/>
            <a:ext cx="6170242" cy="447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56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1" y="-57150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Цель и задачи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F54DD2-DA99-4DE1-B52B-80175F216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4925" y="1067678"/>
            <a:ext cx="6969236" cy="5481360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Цель проекта: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Автоматизация учета продажи билетов и управления расписанием сеансов в МБУК «ПКДЦ»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Задачи:</a:t>
            </a:r>
          </a:p>
          <a:p>
            <a:pPr marL="800100" lvl="1" indent="-342900" algn="just">
              <a:lnSpc>
                <a:spcPct val="14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Анализ предметной области и моделирование требований</a:t>
            </a:r>
          </a:p>
          <a:p>
            <a:pPr marL="800100" lvl="1" indent="-342900" algn="just">
              <a:lnSpc>
                <a:spcPct val="14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Проектирование архитектуры и реляционной базы данных</a:t>
            </a:r>
          </a:p>
          <a:p>
            <a:pPr marL="800100" lvl="1" indent="-342900" algn="just">
              <a:lnSpc>
                <a:spcPct val="14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Программная реализация на языке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C#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с применением технологии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WPF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0100" lvl="1" indent="-342900" algn="just">
              <a:lnSpc>
                <a:spcPct val="14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Тестирование и оценка эффективности внедрения системы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DF6B34-4A93-420E-BEEF-477792E721D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06" t="9140" r="24375" b="7332"/>
          <a:stretch/>
        </p:blipFill>
        <p:spPr>
          <a:xfrm>
            <a:off x="177909" y="1494815"/>
            <a:ext cx="5046249" cy="454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3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1" y="-57150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Пользователи и их функции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F54DD2-DA99-4DE1-B52B-80175F216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5" y="1295240"/>
            <a:ext cx="4810125" cy="5033059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Ключевые роли: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Администратор: управление учетными записями и обслуживание базы данных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Методист: ведение справочника фильмов и формирование расписания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Кассир: оформление продажи билетов и работа с журналом заказов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B4A816-5FCB-424E-B0C9-60F87977F6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100" y="1440386"/>
            <a:ext cx="7087312" cy="45636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9969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1" y="-57150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Архитектура системы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F54DD2-DA99-4DE1-B52B-80175F216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7875" y="1333091"/>
            <a:ext cx="5915025" cy="5033059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Компоненты архитектуры системы: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Архитектурная модель: Клиент-серверная структура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Слой представления: Интерфейс на платформе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WPF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Логика приложения: Язык объектно-ориентированного программирования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C#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Управление данными: Реляционная СУБД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MS SQL Server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9FF90B1-5F09-43B0-9DF8-76269A75F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340" y="1140344"/>
            <a:ext cx="4314435" cy="51267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733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1" y="-57150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Структура базы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F54DD2-DA99-4DE1-B52B-80175F216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5842159"/>
            <a:ext cx="12191997" cy="473525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Логическая схема отношений и связей между ключевыми сущностями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D20E0CD-BEA6-4E56-81F3-4DC1528EE2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276" y="1250682"/>
            <a:ext cx="9659441" cy="44518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3878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1" y="-57150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Интерфейс приложения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06B13D9-F983-4E15-8487-95BC6BBD2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261" y="1359728"/>
            <a:ext cx="6869624" cy="43836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7A70CFFE-14B1-49E8-8AF4-38F940EB743D}"/>
              </a:ext>
            </a:extLst>
          </p:cNvPr>
          <p:cNvSpPr txBox="1">
            <a:spLocks/>
          </p:cNvSpPr>
          <p:nvPr/>
        </p:nvSpPr>
        <p:spPr>
          <a:xfrm>
            <a:off x="37364" y="1912487"/>
            <a:ext cx="5010150" cy="3594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Раздел «Авторизация»: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Криптографическая защита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Защита от автоматического подбора паролей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Разграничение прав доступа пользователей по ролям</a:t>
            </a:r>
          </a:p>
          <a:p>
            <a:pPr lvl="1" algn="just">
              <a:lnSpc>
                <a:spcPct val="140000"/>
              </a:lnSpc>
              <a:spcBef>
                <a:spcPts val="0"/>
              </a:spcBef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012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-4" y="-127387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Интерфейс приложения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DA0590E-2B22-4127-894B-F7C7DA495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06" y="1391658"/>
            <a:ext cx="6608697" cy="41487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58F4D7B-97C9-4C07-9B28-4B8C9E1B6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864" y="1918869"/>
            <a:ext cx="4883672" cy="30943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2F674E2A-03EE-4742-8AE4-130C7BC48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006" y="5648731"/>
            <a:ext cx="6608698" cy="473525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Раздел «Заказы»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162C1C85-AAD6-4008-9ECB-CBCDAEDB82D8}"/>
              </a:ext>
            </a:extLst>
          </p:cNvPr>
          <p:cNvSpPr txBox="1">
            <a:spLocks/>
          </p:cNvSpPr>
          <p:nvPr/>
        </p:nvSpPr>
        <p:spPr>
          <a:xfrm>
            <a:off x="7092864" y="5124629"/>
            <a:ext cx="4883672" cy="47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Форма добавления</a:t>
            </a:r>
          </a:p>
        </p:txBody>
      </p:sp>
    </p:spTree>
    <p:extLst>
      <p:ext uri="{BB962C8B-B14F-4D97-AF65-F5344CB8AC3E}">
        <p14:creationId xmlns:p14="http://schemas.microsoft.com/office/powerpoint/2010/main" val="2894372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-4" y="-127387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Интерфейс приложения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2F674E2A-03EE-4742-8AE4-130C7BC48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006" y="5648731"/>
            <a:ext cx="6608698" cy="473525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Раздел «Фильмы»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162C1C85-AAD6-4008-9ECB-CBCDAEDB82D8}"/>
              </a:ext>
            </a:extLst>
          </p:cNvPr>
          <p:cNvSpPr txBox="1">
            <a:spLocks/>
          </p:cNvSpPr>
          <p:nvPr/>
        </p:nvSpPr>
        <p:spPr>
          <a:xfrm>
            <a:off x="7066488" y="5265306"/>
            <a:ext cx="4883672" cy="47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Форма добавления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8E0936-DCF7-4D81-B0F3-627F65E4E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06" y="1351838"/>
            <a:ext cx="6600815" cy="41543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0F155D-5976-46BD-9416-1D467A9F8D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601" y="1631205"/>
            <a:ext cx="4666613" cy="35955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4352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-4" y="-127387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Интерфейс приложения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11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2F674E2A-03EE-4742-8AE4-130C7BC48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6034028"/>
            <a:ext cx="12191995" cy="473525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Раздел «Расписание»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603CBB-F918-40A1-A8BC-41594A182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391" y="1045279"/>
            <a:ext cx="9201155" cy="49666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2467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-4" y="-127387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Интерфейс приложения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12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2F674E2A-03EE-4742-8AE4-130C7BC48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362" y="5601106"/>
            <a:ext cx="6703120" cy="473525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Раздел «Пользователи»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162C1C85-AAD6-4008-9ECB-CBCDAEDB82D8}"/>
              </a:ext>
            </a:extLst>
          </p:cNvPr>
          <p:cNvSpPr txBox="1">
            <a:spLocks/>
          </p:cNvSpPr>
          <p:nvPr/>
        </p:nvSpPr>
        <p:spPr>
          <a:xfrm>
            <a:off x="7447136" y="5265306"/>
            <a:ext cx="4410075" cy="47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Форма добавления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025A25-5AE8-45B2-A90B-E7E5AD133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63" y="1341996"/>
            <a:ext cx="6703120" cy="4198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1CE7BE-6AD1-443A-A300-1EA6847F8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137" y="1626872"/>
            <a:ext cx="4410075" cy="36290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2507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-4" y="-127387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Интерфейс приложения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13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E9DCF0-5AB9-4A56-BE2C-BCB1178AE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48" y="1304618"/>
            <a:ext cx="7573707" cy="47395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FE17C65B-FB7C-41D5-94DC-D24EB4935DA6}"/>
              </a:ext>
            </a:extLst>
          </p:cNvPr>
          <p:cNvSpPr txBox="1">
            <a:spLocks/>
          </p:cNvSpPr>
          <p:nvPr/>
        </p:nvSpPr>
        <p:spPr>
          <a:xfrm>
            <a:off x="7741296" y="1925921"/>
            <a:ext cx="4411364" cy="3951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Настройки системы: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Персонализация интерфейса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Настройка «быстрых цен»</a:t>
            </a:r>
          </a:p>
          <a:p>
            <a:pPr lvl="1" algn="just">
              <a:lnSpc>
                <a:spcPct val="140000"/>
              </a:lnSpc>
              <a:spcBef>
                <a:spcPts val="0"/>
              </a:spcBef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Смена личного пароля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Инструменты обслуживания базы данных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760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-4" y="-127387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Интерфейс приложения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14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FE17C65B-FB7C-41D5-94DC-D24EB4935DA6}"/>
              </a:ext>
            </a:extLst>
          </p:cNvPr>
          <p:cNvSpPr txBox="1">
            <a:spLocks/>
          </p:cNvSpPr>
          <p:nvPr/>
        </p:nvSpPr>
        <p:spPr>
          <a:xfrm>
            <a:off x="34942" y="1736202"/>
            <a:ext cx="4841928" cy="3951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Раздел «О программе»: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Сведения о разработчике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и версии ИС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Системные требования для запуска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Используемый технологический стек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70C2AD8-B217-4F93-AB9F-033538F4C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134" y="1547709"/>
            <a:ext cx="7087754" cy="43240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3855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-4" y="-127387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Эксплуатационная документация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FE17C65B-FB7C-41D5-94DC-D24EB4935DA6}"/>
              </a:ext>
            </a:extLst>
          </p:cNvPr>
          <p:cNvSpPr txBox="1">
            <a:spLocks/>
          </p:cNvSpPr>
          <p:nvPr/>
        </p:nvSpPr>
        <p:spPr>
          <a:xfrm>
            <a:off x="6166183" y="1835614"/>
            <a:ext cx="5768056" cy="4664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Руководство пользователя: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Инструкция по оформлению продажи билетов, работе с заказами и ведению расписания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Руководство системного администратора: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Порядок развертывания системы, настройка связи с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SQL Server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и регламент создания бэкапов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DD30E0-3A5B-439E-9FAB-0698A2453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35" y="992292"/>
            <a:ext cx="3544495" cy="50124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CB28F97-8C1E-4480-9605-2383EC2A26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92" y="1419588"/>
            <a:ext cx="3544496" cy="50124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8681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-4" y="-127387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Внедрение и апробация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16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FE17C65B-FB7C-41D5-94DC-D24EB4935DA6}"/>
              </a:ext>
            </a:extLst>
          </p:cNvPr>
          <p:cNvSpPr txBox="1">
            <a:spLocks/>
          </p:cNvSpPr>
          <p:nvPr/>
        </p:nvSpPr>
        <p:spPr>
          <a:xfrm>
            <a:off x="138113" y="1303963"/>
            <a:ext cx="5768056" cy="4816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Этапы апробация проекта: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Проведение опытной эксплуатации в кинотеатре «Премьера»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Демонстрация всех модулей системы руководству организации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Получение положительной оценки удобства интерфейса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Подтверждение готовности системы к промышленному внедрению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CC3142-85CC-4739-ADB9-F11B5A69B69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5" t="15942" r="4015" b="11776"/>
          <a:stretch/>
        </p:blipFill>
        <p:spPr>
          <a:xfrm>
            <a:off x="8755237" y="1033192"/>
            <a:ext cx="3298650" cy="37805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FA73524-DE4A-45DE-9147-86755219E97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" t="27959" r="1784"/>
          <a:stretch/>
        </p:blipFill>
        <p:spPr>
          <a:xfrm>
            <a:off x="6417728" y="2964169"/>
            <a:ext cx="3532030" cy="35066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1328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-4" y="-127387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Оценка эффективности внедрения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17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FE17C65B-FB7C-41D5-94DC-D24EB4935DA6}"/>
              </a:ext>
            </a:extLst>
          </p:cNvPr>
          <p:cNvSpPr txBox="1">
            <a:spLocks/>
          </p:cNvSpPr>
          <p:nvPr/>
        </p:nvSpPr>
        <p:spPr>
          <a:xfrm>
            <a:off x="6525928" y="1323292"/>
            <a:ext cx="5527959" cy="4816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Показатели эффективности системы: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Сокращение временных затрат на 71,4%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Дневная экономия времени (при 30 заказах) – 5 часов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Итоговый показатель надежности 0,892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Общий показатель эффективности составил 0,887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CF43654-B226-4447-B379-87A6C7992D16}"/>
              </a:ext>
            </a:extLst>
          </p:cNvPr>
          <p:cNvGrpSpPr/>
          <p:nvPr/>
        </p:nvGrpSpPr>
        <p:grpSpPr>
          <a:xfrm>
            <a:off x="-74917" y="1520615"/>
            <a:ext cx="7390117" cy="4619070"/>
            <a:chOff x="-74917" y="1328112"/>
            <a:chExt cx="7390117" cy="4619070"/>
          </a:xfrm>
        </p:grpSpPr>
        <p:graphicFrame>
          <p:nvGraphicFramePr>
            <p:cNvPr id="9" name="Диаграмма 8">
              <a:extLst>
                <a:ext uri="{FF2B5EF4-FFF2-40B4-BE49-F238E27FC236}">
                  <a16:creationId xmlns:a16="http://schemas.microsoft.com/office/drawing/2014/main" id="{B1D32478-51B4-46FE-8D0E-5F157AFBDE6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42439050"/>
                </p:ext>
              </p:extLst>
            </p:nvPr>
          </p:nvGraphicFramePr>
          <p:xfrm>
            <a:off x="1617044" y="1328112"/>
            <a:ext cx="5698156" cy="461907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0" name="Подзаголовок 2">
              <a:extLst>
                <a:ext uri="{FF2B5EF4-FFF2-40B4-BE49-F238E27FC236}">
                  <a16:creationId xmlns:a16="http://schemas.microsoft.com/office/drawing/2014/main" id="{D8E98F2A-1DE1-4349-A69F-22D8279B1F36}"/>
                </a:ext>
              </a:extLst>
            </p:cNvPr>
            <p:cNvSpPr txBox="1">
              <a:spLocks/>
            </p:cNvSpPr>
            <p:nvPr/>
          </p:nvSpPr>
          <p:spPr>
            <a:xfrm>
              <a:off x="92998" y="2439268"/>
              <a:ext cx="1603398" cy="74712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40000"/>
                </a:lnSpc>
                <a:spcBef>
                  <a:spcPts val="0"/>
                </a:spcBef>
              </a:pPr>
              <a:r>
                <a:rPr lang="ru-RU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Ручной</a:t>
              </a:r>
              <a:br>
                <a:rPr lang="ru-RU" sz="14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ru-RU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учет</a:t>
              </a:r>
            </a:p>
          </p:txBody>
        </p:sp>
        <p:sp>
          <p:nvSpPr>
            <p:cNvPr id="21" name="Подзаголовок 2">
              <a:extLst>
                <a:ext uri="{FF2B5EF4-FFF2-40B4-BE49-F238E27FC236}">
                  <a16:creationId xmlns:a16="http://schemas.microsoft.com/office/drawing/2014/main" id="{70E1629C-4A43-4023-A650-534BD2351F8E}"/>
                </a:ext>
              </a:extLst>
            </p:cNvPr>
            <p:cNvSpPr txBox="1">
              <a:spLocks/>
            </p:cNvSpPr>
            <p:nvPr/>
          </p:nvSpPr>
          <p:spPr>
            <a:xfrm>
              <a:off x="-74917" y="4490743"/>
              <a:ext cx="1939228" cy="81652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40000"/>
                </a:lnSpc>
                <a:spcBef>
                  <a:spcPts val="0"/>
                </a:spcBef>
              </a:pPr>
              <a:r>
                <a:rPr lang="ru-RU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Использование</a:t>
              </a:r>
            </a:p>
            <a:p>
              <a:pPr>
                <a:lnSpc>
                  <a:spcPct val="140000"/>
                </a:lnSpc>
                <a:spcBef>
                  <a:spcPts val="0"/>
                </a:spcBef>
              </a:pPr>
              <a:r>
                <a:rPr lang="ru-RU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ИС</a:t>
              </a:r>
            </a:p>
          </p:txBody>
        </p:sp>
        <p:sp>
          <p:nvSpPr>
            <p:cNvPr id="22" name="Подзаголовок 2">
              <a:extLst>
                <a:ext uri="{FF2B5EF4-FFF2-40B4-BE49-F238E27FC236}">
                  <a16:creationId xmlns:a16="http://schemas.microsoft.com/office/drawing/2014/main" id="{83E59156-5F6E-47F0-BD81-E88108171E43}"/>
                </a:ext>
              </a:extLst>
            </p:cNvPr>
            <p:cNvSpPr txBox="1">
              <a:spLocks/>
            </p:cNvSpPr>
            <p:nvPr/>
          </p:nvSpPr>
          <p:spPr>
            <a:xfrm>
              <a:off x="1741511" y="3249847"/>
              <a:ext cx="4784411" cy="49444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40000"/>
                </a:lnSpc>
                <a:spcBef>
                  <a:spcPts val="0"/>
                </a:spcBef>
              </a:pPr>
              <a:r>
                <a:rPr lang="ru-RU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14 минут</a:t>
              </a:r>
            </a:p>
          </p:txBody>
        </p:sp>
        <p:sp>
          <p:nvSpPr>
            <p:cNvPr id="23" name="Подзаголовок 2">
              <a:extLst>
                <a:ext uri="{FF2B5EF4-FFF2-40B4-BE49-F238E27FC236}">
                  <a16:creationId xmlns:a16="http://schemas.microsoft.com/office/drawing/2014/main" id="{44592B18-8288-45D5-9BB1-4340F623116B}"/>
                </a:ext>
              </a:extLst>
            </p:cNvPr>
            <p:cNvSpPr txBox="1">
              <a:spLocks/>
            </p:cNvSpPr>
            <p:nvPr/>
          </p:nvSpPr>
          <p:spPr>
            <a:xfrm>
              <a:off x="1741512" y="5205107"/>
              <a:ext cx="1377074" cy="49444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40000"/>
                </a:lnSpc>
                <a:spcBef>
                  <a:spcPts val="0"/>
                </a:spcBef>
              </a:pPr>
              <a:r>
                <a:rPr lang="ru-RU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4 минуты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5620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-4" y="-127387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" y="-11112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Заключение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18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FE17C65B-FB7C-41D5-94DC-D24EB4935DA6}"/>
              </a:ext>
            </a:extLst>
          </p:cNvPr>
          <p:cNvSpPr txBox="1">
            <a:spLocks/>
          </p:cNvSpPr>
          <p:nvPr/>
        </p:nvSpPr>
        <p:spPr>
          <a:xfrm>
            <a:off x="150528" y="1312526"/>
            <a:ext cx="5945472" cy="4973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40000"/>
              </a:lnSpc>
              <a:spcBef>
                <a:spcPts val="0"/>
              </a:spcBef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</a:rPr>
              <a:t>Итоги  выполнения проекта: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Цель дипломного проекта полностью достигнута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Успешно решены все поставленные задачи проектирования и разработки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Подтверждена практическая значимость и эффективность внедрения системы</a:t>
            </a: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 algn="just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Программный комплекс полностью готов к реальной эксплуатации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104B33-0B7D-4E04-9186-8090733D911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30" t="10131" r="21154" b="8498"/>
          <a:stretch/>
        </p:blipFill>
        <p:spPr>
          <a:xfrm>
            <a:off x="5941722" y="1240059"/>
            <a:ext cx="6198847" cy="492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34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527DA4-A28C-456F-AF13-8C09DDB46806}"/>
              </a:ext>
            </a:extLst>
          </p:cNvPr>
          <p:cNvSpPr/>
          <p:nvPr/>
        </p:nvSpPr>
        <p:spPr>
          <a:xfrm>
            <a:off x="-4" y="-127387"/>
            <a:ext cx="12191999" cy="6915150"/>
          </a:xfrm>
          <a:prstGeom prst="rect">
            <a:avLst/>
          </a:prstGeom>
          <a:solidFill>
            <a:srgbClr val="81D9F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B1D347-D646-478C-9283-9ED16A84A813}"/>
              </a:ext>
            </a:extLst>
          </p:cNvPr>
          <p:cNvSpPr/>
          <p:nvPr/>
        </p:nvSpPr>
        <p:spPr>
          <a:xfrm>
            <a:off x="-1" y="-54509"/>
            <a:ext cx="12191999" cy="858953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2F32D-43FE-4999-885E-003F2759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82130"/>
            <a:ext cx="12192000" cy="66653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Спасибо за внимание!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340BD6-9C85-44F9-8F47-7A1D526F408E}"/>
              </a:ext>
            </a:extLst>
          </p:cNvPr>
          <p:cNvSpPr/>
          <p:nvPr/>
        </p:nvSpPr>
        <p:spPr>
          <a:xfrm>
            <a:off x="11336449" y="33339"/>
            <a:ext cx="747712" cy="747712"/>
          </a:xfrm>
          <a:prstGeom prst="ellipse">
            <a:avLst/>
          </a:prstGeom>
          <a:solidFill>
            <a:schemeClr val="bg1"/>
          </a:solidFill>
          <a:ln>
            <a:solidFill>
              <a:srgbClr val="5EC9E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D6013-8FF5-4FD9-A505-4B0A5CE70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54"/>
          <a:stretch/>
        </p:blipFill>
        <p:spPr>
          <a:xfrm>
            <a:off x="11322339" y="153213"/>
            <a:ext cx="731548" cy="46273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82FCA14-F5CC-4801-8B57-760F607446A0}"/>
              </a:ext>
            </a:extLst>
          </p:cNvPr>
          <p:cNvSpPr/>
          <p:nvPr/>
        </p:nvSpPr>
        <p:spPr>
          <a:xfrm>
            <a:off x="1" y="6619875"/>
            <a:ext cx="12191999" cy="245462"/>
          </a:xfrm>
          <a:prstGeom prst="rect">
            <a:avLst/>
          </a:prstGeom>
          <a:gradFill flip="none" rotWithShape="1">
            <a:gsLst>
              <a:gs pos="0">
                <a:srgbClr val="93CCFF"/>
              </a:gs>
              <a:gs pos="100000">
                <a:srgbClr val="55DDD7"/>
              </a:gs>
            </a:gsLst>
            <a:lin ang="0" scaled="1"/>
            <a:tileRect/>
          </a:gradFill>
          <a:ln w="254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17C2E9-4E4F-4FDB-B7DC-5A1423EB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0" y="6556375"/>
            <a:ext cx="654050" cy="365125"/>
          </a:xfrm>
        </p:spPr>
        <p:txBody>
          <a:bodyPr/>
          <a:lstStyle/>
          <a:p>
            <a:fld id="{7B03A272-CAB8-4E1D-A6B5-6B7C5EB96C4C}" type="slidenum">
              <a:rPr lang="ru-RU" sz="1400" b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19</a:t>
            </a:fld>
            <a:endParaRPr lang="ru-RU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A3EF2-38D2-4110-B184-88699D73F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837" y="-79762"/>
            <a:ext cx="1939228" cy="1311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74263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509</Words>
  <Application>Microsoft Office PowerPoint</Application>
  <PresentationFormat>Широкоэкранный</PresentationFormat>
  <Paragraphs>140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Verdana</vt:lpstr>
      <vt:lpstr>Тема Office</vt:lpstr>
      <vt:lpstr>Тема: Создание информационной системы «Учет продажи билетов» для МБУК «Починковский культурно-досуговый центр»</vt:lpstr>
      <vt:lpstr>Актуальность проекта</vt:lpstr>
      <vt:lpstr>Объект и предмет исследования</vt:lpstr>
      <vt:lpstr>Цель и задачи</vt:lpstr>
      <vt:lpstr>Пользователи и их функции</vt:lpstr>
      <vt:lpstr>Архитектура системы</vt:lpstr>
      <vt:lpstr>Структура базы данных</vt:lpstr>
      <vt:lpstr>Интерфейс приложения</vt:lpstr>
      <vt:lpstr>Интерфейс приложения</vt:lpstr>
      <vt:lpstr>Интерфейс приложения</vt:lpstr>
      <vt:lpstr>Интерфейс приложения</vt:lpstr>
      <vt:lpstr>Интерфейс приложения</vt:lpstr>
      <vt:lpstr>Интерфейс приложения</vt:lpstr>
      <vt:lpstr>Интерфейс приложения</vt:lpstr>
      <vt:lpstr>Эксплуатационная документация</vt:lpstr>
      <vt:lpstr>Внедрение и апробация</vt:lpstr>
      <vt:lpstr>Оценка эффективности внедрения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Создание информационной системы «Учет продажи билетов» для МБУК «Починковский культурно-досуговый центр»</dc:title>
  <dc:creator>Вадим Мухин</dc:creator>
  <cp:lastModifiedBy>Вадим Мухин</cp:lastModifiedBy>
  <cp:revision>216</cp:revision>
  <dcterms:created xsi:type="dcterms:W3CDTF">2026-05-20T11:32:08Z</dcterms:created>
  <dcterms:modified xsi:type="dcterms:W3CDTF">2026-05-25T05:39:30Z</dcterms:modified>
</cp:coreProperties>
</file>